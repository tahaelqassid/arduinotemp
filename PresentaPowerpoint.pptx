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5865"/>
  </p:normalViewPr>
  <p:slideViewPr>
    <p:cSldViewPr snapToGrid="0" snapToObjects="1">
      <p:cViewPr varScale="1">
        <p:scale>
          <a:sx n="120" d="100"/>
          <a:sy n="120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°C</c:v>
                </c:pt>
              </c:strCache>
            </c:strRef>
          </c:tx>
          <c:spPr>
            <a:ln w="31750" cap="flat">
              <a:solidFill>
                <a:srgbClr val="0097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979D"/>
              </a:solidFill>
              <a:ln w="9525" cap="flat">
                <a:solidFill>
                  <a:srgbClr val="00979D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2s</c:v>
                </c:pt>
                <c:pt idx="2">
                  <c:v>4s</c:v>
                </c:pt>
                <c:pt idx="3">
                  <c:v>6s</c:v>
                </c:pt>
                <c:pt idx="4">
                  <c:v>8s</c:v>
                </c:pt>
                <c:pt idx="5">
                  <c:v>10s</c:v>
                </c:pt>
                <c:pt idx="6">
                  <c:v>12s</c:v>
                </c:pt>
                <c:pt idx="7">
                  <c:v>14s</c:v>
                </c:pt>
                <c:pt idx="8">
                  <c:v>16s</c:v>
                </c:pt>
                <c:pt idx="9">
                  <c:v>18s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24.5</c:v>
                </c:pt>
                <c:pt idx="1">
                  <c:v>26.1</c:v>
                </c:pt>
                <c:pt idx="2">
                  <c:v>27.4</c:v>
                </c:pt>
                <c:pt idx="3">
                  <c:v>29.2</c:v>
                </c:pt>
                <c:pt idx="4">
                  <c:v>30.8</c:v>
                </c:pt>
                <c:pt idx="5">
                  <c:v>31.5</c:v>
                </c:pt>
                <c:pt idx="6">
                  <c:v>30.2</c:v>
                </c:pt>
                <c:pt idx="7">
                  <c:v>29</c:v>
                </c:pt>
                <c:pt idx="8">
                  <c:v>28.9</c:v>
                </c:pt>
                <c:pt idx="9">
                  <c:v>27.5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D1F-974F-9BD2-2BD7E7A7C6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M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M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467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201168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photo_all_componen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01168"/>
            <a:ext cx="4937760" cy="5143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Shape 2"/>
          <p:cNvSpPr/>
          <p:nvPr/>
        </p:nvSpPr>
        <p:spPr>
          <a:xfrm>
            <a:off x="228600" y="201168"/>
            <a:ext cx="2103120" cy="347472"/>
          </a:xfrm>
          <a:prstGeom prst="rect">
            <a:avLst/>
          </a:prstGeom>
          <a:solidFill>
            <a:srgbClr val="00979D">
              <a:alpha val="20000"/>
            </a:srgbClr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Text 3"/>
          <p:cNvSpPr/>
          <p:nvPr/>
        </p:nvSpPr>
        <p:spPr>
          <a:xfrm>
            <a:off x="228600" y="2011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979D"/>
                </a:solidFill>
              </a:rPr>
              <a:t>IoT  ·  EMBEDDED SYSTEMS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82880" y="6583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Connected</a:t>
            </a:r>
            <a:endParaRPr lang="en-US" sz="4200" dirty="0"/>
          </a:p>
        </p:txBody>
      </p:sp>
      <p:sp>
        <p:nvSpPr>
          <p:cNvPr id="10" name="Text 5"/>
          <p:cNvSpPr/>
          <p:nvPr/>
        </p:nvSpPr>
        <p:spPr>
          <a:xfrm>
            <a:off x="182880" y="131673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Thermometer</a:t>
            </a:r>
          </a:p>
        </p:txBody>
      </p:sp>
      <p:sp>
        <p:nvSpPr>
          <p:cNvPr id="11" name="Shape 6"/>
          <p:cNvSpPr/>
          <p:nvPr/>
        </p:nvSpPr>
        <p:spPr>
          <a:xfrm>
            <a:off x="182880" y="2084832"/>
            <a:ext cx="2011680" cy="36576"/>
          </a:xfrm>
          <a:prstGeom prst="rect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2" name="Text 7"/>
          <p:cNvSpPr/>
          <p:nvPr/>
        </p:nvSpPr>
        <p:spPr>
          <a:xfrm>
            <a:off x="182880" y="22128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 monitoring 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alerts using Arduino Uno + DHT11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182880" y="3154680"/>
            <a:ext cx="1207008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Text 9"/>
          <p:cNvSpPr/>
          <p:nvPr/>
        </p:nvSpPr>
        <p:spPr>
          <a:xfrm>
            <a:off x="182880" y="320040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82880" y="3511296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1490472" y="3154680"/>
            <a:ext cx="1207008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Text 12"/>
          <p:cNvSpPr/>
          <p:nvPr/>
        </p:nvSpPr>
        <p:spPr>
          <a:xfrm>
            <a:off x="1490472" y="320040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490472" y="3511296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798064" y="3154680"/>
            <a:ext cx="1207008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Text 15"/>
          <p:cNvSpPr/>
          <p:nvPr/>
        </p:nvSpPr>
        <p:spPr>
          <a:xfrm>
            <a:off x="2798064" y="320040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798064" y="3511296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3" name="Text 18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 ·  Arduino Embedded Systems Project  ·  Academic Year 2026</a:t>
            </a:r>
            <a:endParaRPr lang="en-US" sz="9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4A0436-E975-4AA1-5E87-444200B1E5A5}"/>
              </a:ext>
            </a:extLst>
          </p:cNvPr>
          <p:cNvSpPr txBox="1"/>
          <p:nvPr/>
        </p:nvSpPr>
        <p:spPr>
          <a:xfrm>
            <a:off x="228600" y="4012840"/>
            <a:ext cx="416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Arduino → Serial USB → Python server → Web browser dashboard</a:t>
            </a:r>
            <a:endParaRPr lang="en-MA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B6269-BAFC-02D9-EF22-F6301A5E2D83}"/>
              </a:ext>
            </a:extLst>
          </p:cNvPr>
          <p:cNvSpPr txBox="1"/>
          <p:nvPr/>
        </p:nvSpPr>
        <p:spPr>
          <a:xfrm>
            <a:off x="4206240" y="256145"/>
            <a:ext cx="2992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A" sz="1200" dirty="0">
                <a:solidFill>
                  <a:schemeClr val="bg1"/>
                </a:solidFill>
              </a:rPr>
              <a:t>Prepared by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A" sz="1200" dirty="0">
                <a:solidFill>
                  <a:schemeClr val="bg1"/>
                </a:solidFill>
              </a:rPr>
              <a:t>Manal HOUMAIDY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A" sz="1200" dirty="0">
                <a:solidFill>
                  <a:schemeClr val="bg1"/>
                </a:solidFill>
              </a:rPr>
              <a:t>OUMAIMA GASSI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A" sz="1200" dirty="0">
                <a:solidFill>
                  <a:schemeClr val="bg1"/>
                </a:solidFill>
              </a:rPr>
              <a:t>SALMA BENMOUMA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A" sz="1200" dirty="0">
                <a:solidFill>
                  <a:schemeClr val="bg1"/>
                </a:solidFill>
              </a:rPr>
              <a:t>Mohamed Taha El Qassid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274320" y="64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HARDWARE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Components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22860"/>
          </a:xfrm>
          <a:prstGeom prst="rect">
            <a:avLst/>
          </a:prstGeom>
          <a:solidFill>
            <a:srgbClr val="00979D">
              <a:alpha val="30000"/>
            </a:srgbClr>
          </a:solidFill>
          <a:ln w="12700">
            <a:solidFill>
              <a:srgbClr val="00979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7252A"/>
          </a:solidFill>
          <a:ln w="12700">
            <a:solidFill>
              <a:srgbClr val="17252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Thermometer  ·  Arduino + DHT11  ·  IoT Embedded Systems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4901184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1605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A" dirty="0"/>
          </a:p>
        </p:txBody>
      </p:sp>
      <p:sp>
        <p:nvSpPr>
          <p:cNvPr id="11" name="Text 8"/>
          <p:cNvSpPr/>
          <p:nvPr/>
        </p:nvSpPr>
        <p:spPr>
          <a:xfrm>
            <a:off x="256032" y="470916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components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26864" y="141732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3" name="Shape 10"/>
          <p:cNvSpPr/>
          <p:nvPr/>
        </p:nvSpPr>
        <p:spPr>
          <a:xfrm>
            <a:off x="4617720" y="1389888"/>
            <a:ext cx="2240280" cy="64008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5" name="Text 11"/>
          <p:cNvSpPr/>
          <p:nvPr/>
        </p:nvSpPr>
        <p:spPr>
          <a:xfrm>
            <a:off x="5768222" y="1645920"/>
            <a:ext cx="101662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768222" y="1975104"/>
            <a:ext cx="105875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995160" y="1389888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8" name="Shape 14"/>
          <p:cNvSpPr/>
          <p:nvPr/>
        </p:nvSpPr>
        <p:spPr>
          <a:xfrm>
            <a:off x="6995160" y="1389888"/>
            <a:ext cx="2240280" cy="64008"/>
          </a:xfrm>
          <a:prstGeom prst="rect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Text 15"/>
          <p:cNvSpPr/>
          <p:nvPr/>
        </p:nvSpPr>
        <p:spPr>
          <a:xfrm>
            <a:off x="8293608" y="16459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Module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93608" y="20116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Humidity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17720" y="2880360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 dirty="0"/>
          </a:p>
        </p:txBody>
      </p:sp>
      <p:sp>
        <p:nvSpPr>
          <p:cNvPr id="23" name="Shape 18"/>
          <p:cNvSpPr/>
          <p:nvPr/>
        </p:nvSpPr>
        <p:spPr>
          <a:xfrm>
            <a:off x="4617720" y="2880360"/>
            <a:ext cx="2240280" cy="64008"/>
          </a:xfrm>
          <a:prstGeom prst="rect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5" name="Text 19"/>
          <p:cNvSpPr/>
          <p:nvPr/>
        </p:nvSpPr>
        <p:spPr>
          <a:xfrm>
            <a:off x="5916168" y="3136392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Module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916168" y="350215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Actuator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995160" y="2869773"/>
            <a:ext cx="22402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28" name="Shape 22"/>
          <p:cNvSpPr/>
          <p:nvPr/>
        </p:nvSpPr>
        <p:spPr>
          <a:xfrm>
            <a:off x="6995160" y="2880360"/>
            <a:ext cx="2240280" cy="64008"/>
          </a:xfrm>
          <a:prstGeom prst="rect">
            <a:avLst/>
          </a:prstGeom>
          <a:solidFill>
            <a:srgbClr val="667788"/>
          </a:solidFill>
          <a:ln w="12700">
            <a:solidFill>
              <a:srgbClr val="667788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0" name="Text 23"/>
          <p:cNvSpPr/>
          <p:nvPr/>
        </p:nvSpPr>
        <p:spPr>
          <a:xfrm>
            <a:off x="7351776" y="33215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293608" y="330764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950" dirty="0"/>
          </a:p>
        </p:txBody>
      </p:sp>
      <p:pic>
        <p:nvPicPr>
          <p:cNvPr id="33" name="Picture 32" descr="A circuit board with wires and a display&#10;&#10;Description automatically generated">
            <a:extLst>
              <a:ext uri="{FF2B5EF4-FFF2-40B4-BE49-F238E27FC236}">
                <a16:creationId xmlns:a16="http://schemas.microsoft.com/office/drawing/2014/main" id="{5DAB55C4-2EF6-0063-E6A5-1696AF5F6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5349" y="1392010"/>
            <a:ext cx="3316497" cy="3312258"/>
          </a:xfrm>
          <a:prstGeom prst="rect">
            <a:avLst/>
          </a:prstGeom>
        </p:spPr>
      </p:pic>
      <p:pic>
        <p:nvPicPr>
          <p:cNvPr id="35" name="Picture 34" descr="A blue electronic board with wires and wires&#10;&#10;Description automatically generated">
            <a:extLst>
              <a:ext uri="{FF2B5EF4-FFF2-40B4-BE49-F238E27FC236}">
                <a16:creationId xmlns:a16="http://schemas.microsoft.com/office/drawing/2014/main" id="{782C8096-7161-3C89-3414-7BCB271C7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209" y="1627378"/>
            <a:ext cx="1083818" cy="1083818"/>
          </a:xfrm>
          <a:prstGeom prst="rect">
            <a:avLst/>
          </a:prstGeom>
        </p:spPr>
      </p:pic>
      <p:pic>
        <p:nvPicPr>
          <p:cNvPr id="37" name="Picture 36" descr="A black electronic device with a round black circle&#10;&#10;Description automatically generated">
            <a:extLst>
              <a:ext uri="{FF2B5EF4-FFF2-40B4-BE49-F238E27FC236}">
                <a16:creationId xmlns:a16="http://schemas.microsoft.com/office/drawing/2014/main" id="{A64BE19B-BCC0-FE07-AF0C-C5A7A8FA5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46" y="3108960"/>
            <a:ext cx="1038976" cy="1038976"/>
          </a:xfrm>
          <a:prstGeom prst="rect">
            <a:avLst/>
          </a:prstGeom>
        </p:spPr>
      </p:pic>
      <p:pic>
        <p:nvPicPr>
          <p:cNvPr id="39" name="Picture 38" descr="A blue and black electronic device&#10;&#10;Description automatically generated">
            <a:extLst>
              <a:ext uri="{FF2B5EF4-FFF2-40B4-BE49-F238E27FC236}">
                <a16:creationId xmlns:a16="http://schemas.microsoft.com/office/drawing/2014/main" id="{A0309B99-5764-6E17-1CBE-41EA98BFD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2475" y="1645920"/>
            <a:ext cx="867237" cy="8672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C6E"/>
          </a:solidFill>
          <a:ln w="12700">
            <a:solidFill>
              <a:srgbClr val="005C6E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274320" y="64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CIRCUIT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Schematic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22860"/>
          </a:xfrm>
          <a:prstGeom prst="rect">
            <a:avLst/>
          </a:prstGeom>
          <a:solidFill>
            <a:srgbClr val="00979D">
              <a:alpha val="30000"/>
            </a:srgbClr>
          </a:solidFill>
          <a:ln w="12700">
            <a:solidFill>
              <a:srgbClr val="00979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7252A"/>
          </a:solidFill>
          <a:ln w="12700">
            <a:solidFill>
              <a:srgbClr val="17252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Thermometer  ·  Arduino + DHT11  ·  IoT Embedded Systems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4901184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5394960" cy="3337560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pic>
        <p:nvPicPr>
          <p:cNvPr id="10" name="Image 0" descr="/home/claude/photo_schemat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389888"/>
            <a:ext cx="5394960" cy="3337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4718304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schematic — Arduino Project Hub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97296" y="1308258"/>
            <a:ext cx="30175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3" name="Text 10"/>
          <p:cNvSpPr/>
          <p:nvPr/>
        </p:nvSpPr>
        <p:spPr>
          <a:xfrm>
            <a:off x="5998464" y="1481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Connections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98464" y="1883664"/>
            <a:ext cx="2743200" cy="22860"/>
          </a:xfrm>
          <a:prstGeom prst="rect">
            <a:avLst/>
          </a:prstGeom>
          <a:solidFill>
            <a:srgbClr val="00979D">
              <a:alpha val="50000"/>
            </a:srgbClr>
          </a:solidFill>
          <a:ln w="12700">
            <a:solidFill>
              <a:srgbClr val="00979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5" name="Shape 12"/>
          <p:cNvSpPr/>
          <p:nvPr/>
        </p:nvSpPr>
        <p:spPr>
          <a:xfrm>
            <a:off x="5998464" y="2057400"/>
            <a:ext cx="201168" cy="201168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6" name="Text 13"/>
          <p:cNvSpPr/>
          <p:nvPr/>
        </p:nvSpPr>
        <p:spPr>
          <a:xfrm>
            <a:off x="6272784" y="19933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 →  DATA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2029968"/>
            <a:ext cx="777240" cy="256032"/>
          </a:xfrm>
          <a:prstGeom prst="rect">
            <a:avLst/>
          </a:prstGeom>
          <a:solidFill>
            <a:srgbClr val="00979D">
              <a:alpha val="15000"/>
            </a:srgbClr>
          </a:solidFill>
          <a:ln w="9525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8" name="Text 15"/>
          <p:cNvSpPr/>
          <p:nvPr/>
        </p:nvSpPr>
        <p:spPr>
          <a:xfrm>
            <a:off x="7955280" y="20299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7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98464" y="2505456"/>
            <a:ext cx="201168" cy="201168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Text 17"/>
          <p:cNvSpPr/>
          <p:nvPr/>
        </p:nvSpPr>
        <p:spPr>
          <a:xfrm>
            <a:off x="6272784" y="24414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 →  (+)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0" y="2478024"/>
            <a:ext cx="777240" cy="256032"/>
          </a:xfrm>
          <a:prstGeom prst="rect">
            <a:avLst/>
          </a:prstGeom>
          <a:solidFill>
            <a:srgbClr val="00AA44">
              <a:alpha val="15000"/>
            </a:srgbClr>
          </a:solidFill>
          <a:ln w="9525">
            <a:solidFill>
              <a:srgbClr val="00AA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2" name="Text 19"/>
          <p:cNvSpPr/>
          <p:nvPr/>
        </p:nvSpPr>
        <p:spPr>
          <a:xfrm>
            <a:off x="7955280" y="24780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7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98464" y="2953512"/>
            <a:ext cx="201168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4" name="Text 21"/>
          <p:cNvSpPr/>
          <p:nvPr/>
        </p:nvSpPr>
        <p:spPr>
          <a:xfrm>
            <a:off x="6272784" y="28895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 →  (+)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955280" y="2926080"/>
            <a:ext cx="777240" cy="256032"/>
          </a:xfrm>
          <a:prstGeom prst="rect">
            <a:avLst/>
          </a:prstGeom>
          <a:solidFill>
            <a:srgbClr val="CC0000">
              <a:alpha val="15000"/>
            </a:srgbClr>
          </a:solidFill>
          <a:ln w="952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6" name="Text 23"/>
          <p:cNvSpPr/>
          <p:nvPr/>
        </p:nvSpPr>
        <p:spPr>
          <a:xfrm>
            <a:off x="7955280" y="29260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98464" y="3401568"/>
            <a:ext cx="201168" cy="201168"/>
          </a:xfrm>
          <a:prstGeom prst="rect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8" name="Text 25"/>
          <p:cNvSpPr/>
          <p:nvPr/>
        </p:nvSpPr>
        <p:spPr>
          <a:xfrm>
            <a:off x="6272784" y="33375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 →  (+)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955280" y="3374136"/>
            <a:ext cx="777240" cy="256032"/>
          </a:xfrm>
          <a:prstGeom prst="rect">
            <a:avLst/>
          </a:prstGeom>
          <a:solidFill>
            <a:srgbClr val="E55B13">
              <a:alpha val="15000"/>
            </a:srgbClr>
          </a:solidFill>
          <a:ln w="9525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0" name="Text 27"/>
          <p:cNvSpPr/>
          <p:nvPr/>
        </p:nvSpPr>
        <p:spPr>
          <a:xfrm>
            <a:off x="7955280" y="337413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5B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9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98464" y="3849624"/>
            <a:ext cx="201168" cy="201168"/>
          </a:xfrm>
          <a:prstGeom prst="rect">
            <a:avLst/>
          </a:prstGeom>
          <a:solidFill>
            <a:srgbClr val="DDAA00"/>
          </a:solidFill>
          <a:ln w="12700">
            <a:solidFill>
              <a:srgbClr val="DDAA0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2" name="Text 29"/>
          <p:cNvSpPr/>
          <p:nvPr/>
        </p:nvSpPr>
        <p:spPr>
          <a:xfrm>
            <a:off x="6272784" y="37856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 →  VCC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955280" y="3822192"/>
            <a:ext cx="777240" cy="256032"/>
          </a:xfrm>
          <a:prstGeom prst="rect">
            <a:avLst/>
          </a:prstGeom>
          <a:solidFill>
            <a:srgbClr val="DDAA00">
              <a:alpha val="15000"/>
            </a:srgbClr>
          </a:solidFill>
          <a:ln w="9525">
            <a:solidFill>
              <a:srgbClr val="DDAA0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4" name="Text 31"/>
          <p:cNvSpPr/>
          <p:nvPr/>
        </p:nvSpPr>
        <p:spPr>
          <a:xfrm>
            <a:off x="7955280" y="382219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D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998464" y="4297680"/>
            <a:ext cx="201168" cy="20116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6" name="Text 33"/>
          <p:cNvSpPr/>
          <p:nvPr/>
        </p:nvSpPr>
        <p:spPr>
          <a:xfrm>
            <a:off x="6272784" y="42336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GND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955280" y="4270248"/>
            <a:ext cx="777240" cy="256032"/>
          </a:xfrm>
          <a:prstGeom prst="rect">
            <a:avLst/>
          </a:prstGeom>
          <a:solidFill>
            <a:srgbClr val="666666">
              <a:alpha val="15000"/>
            </a:srgbClr>
          </a:solidFill>
          <a:ln w="9525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8" name="Text 35"/>
          <p:cNvSpPr/>
          <p:nvPr/>
        </p:nvSpPr>
        <p:spPr>
          <a:xfrm>
            <a:off x="7955280" y="4270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70448" y="4645152"/>
            <a:ext cx="3017520" cy="256032"/>
          </a:xfrm>
          <a:prstGeom prst="rect">
            <a:avLst/>
          </a:prstGeom>
          <a:solidFill>
            <a:srgbClr val="FFF8E1"/>
          </a:solidFill>
          <a:ln w="9525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0" name="Text 37"/>
          <p:cNvSpPr/>
          <p:nvPr/>
        </p:nvSpPr>
        <p:spPr>
          <a:xfrm>
            <a:off x="5943600" y="4654296"/>
            <a:ext cx="2871216" cy="183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LEDs need 220Ω resistors in series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phic 47">
            <a:extLst>
              <a:ext uri="{FF2B5EF4-FFF2-40B4-BE49-F238E27FC236}">
                <a16:creationId xmlns:a16="http://schemas.microsoft.com/office/drawing/2014/main" id="{701BC96C-BEC9-4807-ACB4-C975A524B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8416" y="123759"/>
            <a:ext cx="4488398" cy="5019741"/>
          </a:xfrm>
          <a:prstGeom prst="rect">
            <a:avLst/>
          </a:prstGeom>
        </p:spPr>
      </p:pic>
      <p:pic>
        <p:nvPicPr>
          <p:cNvPr id="50" name="Picture 49" descr="A screenshot of a computer&#10;&#10;Description automatically generated">
            <a:extLst>
              <a:ext uri="{FF2B5EF4-FFF2-40B4-BE49-F238E27FC236}">
                <a16:creationId xmlns:a16="http://schemas.microsoft.com/office/drawing/2014/main" id="{BCA07F36-7192-A9BC-9022-390E51D9D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7459" y="234093"/>
            <a:ext cx="5462504" cy="333679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7085C72-6CBF-C997-8A22-F743893AC6E6}"/>
              </a:ext>
            </a:extLst>
          </p:cNvPr>
          <p:cNvSpPr txBox="1"/>
          <p:nvPr/>
        </p:nvSpPr>
        <p:spPr>
          <a:xfrm>
            <a:off x="4466424" y="3803196"/>
            <a:ext cx="4273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FF0000"/>
                </a:solidFill>
                <a:effectLst/>
                <a:highlight>
                  <a:srgbClr val="000000"/>
                </a:highlight>
                <a:latin typeface="-webkit-standard"/>
              </a:rPr>
              <a:t>System Logic Flow diagram</a:t>
            </a:r>
            <a:endParaRPr lang="en-MA" dirty="0">
              <a:solidFill>
                <a:srgbClr val="FF0000"/>
              </a:solidFill>
              <a:highlight>
                <a:srgbClr val="000000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526F83-7D51-0482-E173-44936D262608}"/>
              </a:ext>
            </a:extLst>
          </p:cNvPr>
          <p:cNvSpPr txBox="1"/>
          <p:nvPr/>
        </p:nvSpPr>
        <p:spPr>
          <a:xfrm>
            <a:off x="7222166" y="234093"/>
            <a:ext cx="1783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FF0000"/>
                </a:solidFill>
                <a:effectLst/>
                <a:latin typeface="-webkit-standard"/>
              </a:rPr>
              <a:t>Server.py </a:t>
            </a:r>
            <a:endParaRPr lang="en-MA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0" y="21488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5" name="Shape 2"/>
          <p:cNvSpPr/>
          <p:nvPr/>
        </p:nvSpPr>
        <p:spPr>
          <a:xfrm>
            <a:off x="137160" y="54864"/>
            <a:ext cx="1920240" cy="402336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" name="Text 3"/>
          <p:cNvSpPr/>
          <p:nvPr/>
        </p:nvSpPr>
        <p:spPr>
          <a:xfrm>
            <a:off x="164592" y="9144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thermometer.ino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31720" y="164592"/>
            <a:ext cx="118872" cy="118872"/>
          </a:xfrm>
          <a:prstGeom prst="ellipse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Shape 5"/>
          <p:cNvSpPr/>
          <p:nvPr/>
        </p:nvSpPr>
        <p:spPr>
          <a:xfrm>
            <a:off x="2532888" y="164592"/>
            <a:ext cx="118872" cy="118872"/>
          </a:xfrm>
          <a:prstGeom prst="ellipse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9" name="Shape 6"/>
          <p:cNvSpPr/>
          <p:nvPr/>
        </p:nvSpPr>
        <p:spPr>
          <a:xfrm>
            <a:off x="2734056" y="164592"/>
            <a:ext cx="118872" cy="118872"/>
          </a:xfrm>
          <a:prstGeom prst="ellipse">
            <a:avLst/>
          </a:prstGeom>
          <a:solidFill>
            <a:srgbClr val="005C6E"/>
          </a:solidFill>
          <a:ln w="12700">
            <a:solidFill>
              <a:srgbClr val="005C6E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Text 7"/>
          <p:cNvSpPr/>
          <p:nvPr/>
        </p:nvSpPr>
        <p:spPr>
          <a:xfrm>
            <a:off x="274320" y="530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97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592" y="70408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Sketch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201168" y="1106424"/>
            <a:ext cx="5623560" cy="3858768"/>
          </a:xfrm>
          <a:prstGeom prst="rect">
            <a:avLst/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A" dirty="0"/>
          </a:p>
        </p:txBody>
      </p:sp>
      <p:sp>
        <p:nvSpPr>
          <p:cNvPr id="13" name="Shape 10"/>
          <p:cNvSpPr/>
          <p:nvPr/>
        </p:nvSpPr>
        <p:spPr>
          <a:xfrm>
            <a:off x="201168" y="1353312"/>
            <a:ext cx="365760" cy="361188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Text 11"/>
          <p:cNvSpPr/>
          <p:nvPr/>
        </p:nvSpPr>
        <p:spPr>
          <a:xfrm>
            <a:off x="219456" y="140817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3504" y="1408176"/>
            <a:ext cx="5166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&lt;DHT.h&gt;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</a:rPr>
              <a:t># pip install flask pyserial  </a:t>
            </a:r>
            <a:endParaRPr lang="en-US" sz="900" dirty="0">
              <a:solidFill>
                <a:srgbClr val="00B050"/>
              </a:solidFill>
              <a:latin typeface="Consolas" pitchFamily="34" charset="0"/>
              <a:cs typeface="Consolas" pitchFamily="34" charset="-120"/>
            </a:endParaRPr>
          </a:p>
          <a:p>
            <a:r>
              <a:rPr lang="en-US" sz="9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9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9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&lt;LiquidCrystal.h&gt;</a:t>
            </a:r>
            <a:endParaRPr lang="en-US" sz="9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19456" y="156819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3504" y="156819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9456" y="172821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03504" y="172821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Pin definitions ──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9456" y="188823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03504" y="188823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 DHT_PIN     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9456" y="204825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3504" y="204825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 LED_GREEN   7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19456" y="220827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3504" y="220827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 LED_RED     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19456" y="236829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03504" y="236829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 BUZZER_PIN  9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9456" y="252831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03504" y="252831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19456" y="268833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03504" y="268833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Threshold (change this!) ──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19456" y="284835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03504" y="284835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float THRESHOLD = 30.0;  // °C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19456" y="300837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03504" y="300837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 dht(DHT_PIN, DHT11);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19456" y="316839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03504" y="316839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19456" y="332841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03504" y="332841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19456" y="348843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03504" y="348843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temp = dht.readTemperature();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19456" y="364845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03504" y="364845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(temp &gt; THRESHOLD) {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19456" y="380847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03504" y="380847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digitalWrite(LED_RED, HIGH);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219456" y="396849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03504" y="396849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tone(BUZZER_PIN, 1000, 500);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219456" y="412851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03504" y="412851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219456" y="428853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03504" y="428853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digitalWrite(LED_GREEN, HIGH);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219456" y="444855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03504" y="444855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noTone(BUZZER_PIN);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219456" y="460857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03504" y="460857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219456" y="4768596"/>
            <a:ext cx="329184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03504" y="4768596"/>
            <a:ext cx="5166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016752" y="1353312"/>
            <a:ext cx="2880360" cy="1175004"/>
          </a:xfrm>
          <a:prstGeom prst="rect">
            <a:avLst/>
          </a:prstGeom>
          <a:solidFill>
            <a:srgbClr val="252526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59" name="Shape 56"/>
          <p:cNvSpPr/>
          <p:nvPr/>
        </p:nvSpPr>
        <p:spPr>
          <a:xfrm>
            <a:off x="6016752" y="1353312"/>
            <a:ext cx="54864" cy="1133856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0" name="Text 57"/>
          <p:cNvSpPr/>
          <p:nvPr/>
        </p:nvSpPr>
        <p:spPr>
          <a:xfrm>
            <a:off x="6163056" y="14447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Library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163056" y="175564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→ Include Library  (Flask pyserial)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Manage Libraries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DHT sensor library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Adafruit → Install</a:t>
            </a:r>
          </a:p>
        </p:txBody>
      </p:sp>
      <p:sp>
        <p:nvSpPr>
          <p:cNvPr id="62" name="Shape 59"/>
          <p:cNvSpPr/>
          <p:nvPr/>
        </p:nvSpPr>
        <p:spPr>
          <a:xfrm>
            <a:off x="6016752" y="2578608"/>
            <a:ext cx="2880360" cy="1133856"/>
          </a:xfrm>
          <a:prstGeom prst="rect">
            <a:avLst/>
          </a:prstGeom>
          <a:solidFill>
            <a:srgbClr val="252526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3" name="Shape 60"/>
          <p:cNvSpPr/>
          <p:nvPr/>
        </p:nvSpPr>
        <p:spPr>
          <a:xfrm>
            <a:off x="6016752" y="2578608"/>
            <a:ext cx="54864" cy="1133856"/>
          </a:xfrm>
          <a:prstGeom prst="rect">
            <a:avLst/>
          </a:prstGeom>
          <a:solidFill>
            <a:srgbClr val="005C6E"/>
          </a:solidFill>
          <a:ln w="12700">
            <a:solidFill>
              <a:srgbClr val="005C6E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4" name="Text 61"/>
          <p:cNvSpPr/>
          <p:nvPr/>
        </p:nvSpPr>
        <p:spPr>
          <a:xfrm>
            <a:off x="6163056" y="26700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Upload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6163056" y="298094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Board: Arduino Uno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correct COM port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 (→)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6016752" y="3803904"/>
            <a:ext cx="2880360" cy="1133856"/>
          </a:xfrm>
          <a:prstGeom prst="rect">
            <a:avLst/>
          </a:prstGeom>
          <a:solidFill>
            <a:srgbClr val="252526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7" name="Shape 64"/>
          <p:cNvSpPr/>
          <p:nvPr/>
        </p:nvSpPr>
        <p:spPr>
          <a:xfrm>
            <a:off x="6016752" y="3803904"/>
            <a:ext cx="54864" cy="1133856"/>
          </a:xfrm>
          <a:prstGeom prst="rect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8" name="Text 65"/>
          <p:cNvSpPr/>
          <p:nvPr/>
        </p:nvSpPr>
        <p:spPr>
          <a:xfrm>
            <a:off x="6163056" y="38953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Monitor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163056" y="420624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Serial Monitor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Baud: 9600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live readings!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274320" y="64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— Serial Monitor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22860"/>
          </a:xfrm>
          <a:prstGeom prst="rect">
            <a:avLst/>
          </a:prstGeom>
          <a:solidFill>
            <a:srgbClr val="00979D">
              <a:alpha val="30000"/>
            </a:srgbClr>
          </a:solidFill>
          <a:ln w="12700">
            <a:solidFill>
              <a:srgbClr val="00979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7252A"/>
          </a:solidFill>
          <a:ln w="12700">
            <a:solidFill>
              <a:srgbClr val="17252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Thermometer  ·  Arduino + DHT11  ·  IoT Embedded Systems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4901184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892040" cy="3337560"/>
          </a:xfrm>
          <a:prstGeom prst="rect">
            <a:avLst/>
          </a:prstGeom>
          <a:solidFill>
            <a:srgbClr val="0C0C0C"/>
          </a:solidFill>
          <a:ln w="9525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4892040" cy="347472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292608" y="14264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 ●  ●     Serial Monitor                              9600 baud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792224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System initialized!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979676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DHT11 sensor OK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167128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354580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24.5°C  |  Humidity: 58%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542032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[NORMAL] 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729484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26.1°C  |  Humidity: 60%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916936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[NORMAL] 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104388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30.8°C  |  Humidity: 63%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291840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ALERT — Temperature threshold exceeded!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479292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&gt;&gt; Buzzer ON | Red LED 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666744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31.5°C  |  Humidity: 65%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854196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ALERT — Temperature threshold exceeded!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041648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Temp: 28.9°C  |  Humidity: 61%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4229100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[NORMAL] ✓  Buzzer OFF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416552"/>
            <a:ext cx="46634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97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▌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49240" y="1389888"/>
            <a:ext cx="1783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28" name="Shape 26"/>
          <p:cNvSpPr/>
          <p:nvPr/>
        </p:nvSpPr>
        <p:spPr>
          <a:xfrm>
            <a:off x="5349240" y="1389888"/>
            <a:ext cx="1783080" cy="54864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9" name="Text 27"/>
          <p:cNvSpPr/>
          <p:nvPr/>
        </p:nvSpPr>
        <p:spPr>
          <a:xfrm>
            <a:off x="5349240" y="148132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28.9°C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49240" y="19385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Temp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210312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269480" y="1389888"/>
            <a:ext cx="1783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33" name="Shape 31"/>
          <p:cNvSpPr/>
          <p:nvPr/>
        </p:nvSpPr>
        <p:spPr>
          <a:xfrm>
            <a:off x="7269480" y="1389888"/>
            <a:ext cx="1783080" cy="54864"/>
          </a:xfrm>
          <a:prstGeom prst="rect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4" name="Text 32"/>
          <p:cNvSpPr/>
          <p:nvPr/>
        </p:nvSpPr>
        <p:spPr>
          <a:xfrm>
            <a:off x="7269480" y="148132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269480" y="19385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9480" y="210312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B7B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range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349240" y="2395728"/>
            <a:ext cx="1783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38" name="Shape 36"/>
          <p:cNvSpPr/>
          <p:nvPr/>
        </p:nvSpPr>
        <p:spPr>
          <a:xfrm>
            <a:off x="5349240" y="2395728"/>
            <a:ext cx="178308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9" name="Text 37"/>
          <p:cNvSpPr/>
          <p:nvPr/>
        </p:nvSpPr>
        <p:spPr>
          <a:xfrm>
            <a:off x="5349240" y="24871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349240" y="294436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Count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310896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69480" y="2395728"/>
            <a:ext cx="1783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43" name="Shape 41"/>
          <p:cNvSpPr/>
          <p:nvPr/>
        </p:nvSpPr>
        <p:spPr>
          <a:xfrm>
            <a:off x="7269480" y="2395728"/>
            <a:ext cx="1783080" cy="54864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4" name="Text 42"/>
          <p:cNvSpPr/>
          <p:nvPr/>
        </p:nvSpPr>
        <p:spPr>
          <a:xfrm>
            <a:off x="7269480" y="248716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269480" y="294436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69480" y="310896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clear</a:t>
            </a:r>
            <a:endParaRPr lang="en-US" sz="750" dirty="0"/>
          </a:p>
        </p:txBody>
      </p:sp>
      <p:graphicFrame>
        <p:nvGraphicFramePr>
          <p:cNvPr id="47" name="Chart 0"/>
          <p:cNvGraphicFramePr/>
          <p:nvPr/>
        </p:nvGraphicFramePr>
        <p:xfrm>
          <a:off x="5349240" y="3419856"/>
          <a:ext cx="3566160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Shape 45"/>
          <p:cNvSpPr/>
          <p:nvPr/>
        </p:nvSpPr>
        <p:spPr>
          <a:xfrm>
            <a:off x="5349240" y="3858768"/>
            <a:ext cx="3566160" cy="20117"/>
          </a:xfrm>
          <a:prstGeom prst="rect">
            <a:avLst/>
          </a:prstGeom>
          <a:solidFill>
            <a:srgbClr val="CC0000">
              <a:alpha val="70000"/>
            </a:srgbClr>
          </a:solidFill>
          <a:ln w="12700">
            <a:solidFill>
              <a:srgbClr val="CC0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9" name="Text 46"/>
          <p:cNvSpPr/>
          <p:nvPr/>
        </p:nvSpPr>
        <p:spPr>
          <a:xfrm>
            <a:off x="7863840" y="3767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30°C threshold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230819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5" name="Text 2"/>
          <p:cNvSpPr/>
          <p:nvPr/>
        </p:nvSpPr>
        <p:spPr>
          <a:xfrm>
            <a:off x="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97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CONCLUSION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80467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474720" cy="2834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 dirty="0"/>
          </a:p>
        </p:txBody>
      </p:sp>
      <p:sp>
        <p:nvSpPr>
          <p:cNvPr id="9" name="Text 5"/>
          <p:cNvSpPr/>
          <p:nvPr/>
        </p:nvSpPr>
        <p:spPr>
          <a:xfrm>
            <a:off x="4251960" y="15087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</a:p>
        </p:txBody>
      </p:sp>
      <p:sp>
        <p:nvSpPr>
          <p:cNvPr id="10" name="Shape 6"/>
          <p:cNvSpPr/>
          <p:nvPr/>
        </p:nvSpPr>
        <p:spPr>
          <a:xfrm>
            <a:off x="4251960" y="1993392"/>
            <a:ext cx="4572000" cy="438912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979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Shape 7"/>
          <p:cNvSpPr/>
          <p:nvPr/>
        </p:nvSpPr>
        <p:spPr>
          <a:xfrm>
            <a:off x="4251960" y="1993392"/>
            <a:ext cx="45720" cy="438912"/>
          </a:xfrm>
          <a:prstGeom prst="rect">
            <a:avLst/>
          </a:prstGeom>
          <a:solidFill>
            <a:srgbClr val="00979D"/>
          </a:solidFill>
          <a:ln w="12700">
            <a:solidFill>
              <a:srgbClr val="00979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2" name="Text 8"/>
          <p:cNvSpPr/>
          <p:nvPr/>
        </p:nvSpPr>
        <p:spPr>
          <a:xfrm>
            <a:off x="4370832" y="2048256"/>
            <a:ext cx="4370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DHT11 sensor reads temp &amp; humidity every 2s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51960" y="2505456"/>
            <a:ext cx="4572000" cy="438912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E55B1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Shape 10"/>
          <p:cNvSpPr/>
          <p:nvPr/>
        </p:nvSpPr>
        <p:spPr>
          <a:xfrm>
            <a:off x="4251960" y="2505456"/>
            <a:ext cx="45720" cy="438912"/>
          </a:xfrm>
          <a:prstGeom prst="rect">
            <a:avLst/>
          </a:prstGeom>
          <a:solidFill>
            <a:srgbClr val="E55B13"/>
          </a:solidFill>
          <a:ln w="12700">
            <a:solidFill>
              <a:srgbClr val="E55B13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5" name="Text 11"/>
          <p:cNvSpPr/>
          <p:nvPr/>
        </p:nvSpPr>
        <p:spPr>
          <a:xfrm>
            <a:off x="4370832" y="2560320"/>
            <a:ext cx="4370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Threshold-based alert: buzzer + LED activate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51960" y="3017520"/>
            <a:ext cx="4572000" cy="438912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AA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Shape 13"/>
          <p:cNvSpPr/>
          <p:nvPr/>
        </p:nvSpPr>
        <p:spPr>
          <a:xfrm>
            <a:off x="4251960" y="3017520"/>
            <a:ext cx="45720" cy="438912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8" name="Text 14"/>
          <p:cNvSpPr/>
          <p:nvPr/>
        </p:nvSpPr>
        <p:spPr>
          <a:xfrm>
            <a:off x="4370832" y="3072384"/>
            <a:ext cx="4370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Green/Red LED indicates system state clearly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51960" y="3529584"/>
            <a:ext cx="4572000" cy="438912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2B7BB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Shape 16"/>
          <p:cNvSpPr/>
          <p:nvPr/>
        </p:nvSpPr>
        <p:spPr>
          <a:xfrm>
            <a:off x="4251960" y="3529584"/>
            <a:ext cx="45720" cy="438912"/>
          </a:xfrm>
          <a:prstGeom prst="rect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1" name="Text 17"/>
          <p:cNvSpPr/>
          <p:nvPr/>
        </p:nvSpPr>
        <p:spPr>
          <a:xfrm>
            <a:off x="4370832" y="3584448"/>
            <a:ext cx="4370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Serial Monitor shows live readings dashboard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251960" y="4041648"/>
            <a:ext cx="4572000" cy="438912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AAAAA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3" name="Shape 19"/>
          <p:cNvSpPr/>
          <p:nvPr/>
        </p:nvSpPr>
        <p:spPr>
          <a:xfrm>
            <a:off x="4251960" y="4041648"/>
            <a:ext cx="45720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4" name="Text 20"/>
          <p:cNvSpPr/>
          <p:nvPr/>
        </p:nvSpPr>
        <p:spPr>
          <a:xfrm>
            <a:off x="4370832" y="4096512"/>
            <a:ext cx="4370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Threshold configurable directly in code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  <p:pic>
        <p:nvPicPr>
          <p:cNvPr id="27" name="Picture 26" descr="A circuit board with wires and a display&#10;&#10;Description automatically generated">
            <a:extLst>
              <a:ext uri="{FF2B5EF4-FFF2-40B4-BE49-F238E27FC236}">
                <a16:creationId xmlns:a16="http://schemas.microsoft.com/office/drawing/2014/main" id="{DD759EA8-5595-AE81-C581-1ED0D0356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28216"/>
            <a:ext cx="3474720" cy="250545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15F8BE8-04A0-AA90-C36E-BDF2FFE22E8C}"/>
              </a:ext>
            </a:extLst>
          </p:cNvPr>
          <p:cNvSpPr txBox="1"/>
          <p:nvPr/>
        </p:nvSpPr>
        <p:spPr>
          <a:xfrm>
            <a:off x="5789349" y="1435828"/>
            <a:ext cx="31946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u="sng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Server.py : Live Dashboard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u="sng" dirty="0" err="1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Arduino.ino</a:t>
            </a:r>
            <a:r>
              <a:rPr lang="en-US" sz="1600" b="1" i="1" u="sng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 : </a:t>
            </a:r>
            <a:r>
              <a:rPr lang="en-US" sz="1600" b="1" i="1" u="sng" dirty="0" err="1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TempHum</a:t>
            </a:r>
            <a:r>
              <a:rPr lang="en-US" sz="1600" b="1" i="1" u="sng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 Code</a:t>
            </a:r>
            <a:endParaRPr lang="en-US" sz="1600" i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616</Words>
  <Application>Microsoft Macintosh PowerPoint</Application>
  <PresentationFormat>On-screen Show (16:9)</PresentationFormat>
  <Paragraphs>161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-webkit-standard</vt:lpstr>
      <vt:lpstr>Arial</vt:lpstr>
      <vt:lpstr>Calibri</vt:lpstr>
      <vt:lpstr>Consolas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Thermometer — Arduino IoT Project</dc:title>
  <dc:subject>PptxGenJS Presentation</dc:subject>
  <dc:creator>PptxGenJS</dc:creator>
  <cp:lastModifiedBy>Taha EL QASSID</cp:lastModifiedBy>
  <cp:revision>2</cp:revision>
  <dcterms:created xsi:type="dcterms:W3CDTF">2026-04-27T12:20:49Z</dcterms:created>
  <dcterms:modified xsi:type="dcterms:W3CDTF">2026-04-30T23:29:03Z</dcterms:modified>
</cp:coreProperties>
</file>